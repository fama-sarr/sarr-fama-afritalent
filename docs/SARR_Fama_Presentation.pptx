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3741" autoAdjust="0"/>
  </p:normalViewPr>
  <p:slideViewPr>
    <p:cSldViewPr snapToGrid="0" snapToObjects="1">
      <p:cViewPr varScale="1">
        <p:scale>
          <a:sx n="82" d="100"/>
          <a:sy n="82" d="100"/>
        </p:scale>
        <p:origin x="648" y="6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0" d="100"/>
          <a:sy n="50" d="100"/>
        </p:scale>
        <p:origin x="2980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70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Bonjour. Je vais vous présenter mon projet AfriTalent. Il s’agit d’une plateforme web qui met en relation des freelances africains avec des entreprises à la recherche de compétences numériques.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Voici les différentes parties que je vais aborder durant cette présentation.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L’objectif principal est de permettre aux entreprises de trouver facilement des talents africains qualifiés et aux freelances de trouver des 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A6EFF">
              <a:alpha val="18000"/>
            </a:srgbClr>
          </a:solidFill>
          <a:ln w="12700">
            <a:solidFill>
              <a:srgbClr val="1A6EFF">
                <a:alpha val="18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0E5A0">
              <a:alpha val="18000"/>
            </a:srgbClr>
          </a:solidFill>
          <a:ln w="12700">
            <a:solidFill>
              <a:srgbClr val="00E5A0">
                <a:alpha val="18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4114800" y="3657600"/>
            <a:ext cx="1828800" cy="18288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12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 entre freelances Africains et clients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2286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 Sarr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2186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: L1 Web – ISI   •   Année : 2025 –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AfriTalent 2026 — Tous droits réservés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3657600" cy="3657600"/>
          </a:xfrm>
          <a:prstGeom prst="ellipse">
            <a:avLst/>
          </a:prstGeom>
          <a:solidFill>
            <a:srgbClr val="1A6EFF">
              <a:alpha val="12000"/>
            </a:srgbClr>
          </a:solidFill>
          <a:ln w="12700">
            <a:solidFill>
              <a:srgbClr val="1A6EFF">
                <a:alpha val="12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6" name="Shape 4"/>
          <p:cNvSpPr/>
          <p:nvPr/>
        </p:nvSpPr>
        <p:spPr>
          <a:xfrm>
            <a:off x="576072" y="119786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7" name="Text 5"/>
          <p:cNvSpPr/>
          <p:nvPr/>
        </p:nvSpPr>
        <p:spPr>
          <a:xfrm>
            <a:off x="576072" y="1197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1216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0" name="Shape 8"/>
          <p:cNvSpPr/>
          <p:nvPr/>
        </p:nvSpPr>
        <p:spPr>
          <a:xfrm>
            <a:off x="576072" y="215798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1" name="Text 9"/>
          <p:cNvSpPr/>
          <p:nvPr/>
        </p:nvSpPr>
        <p:spPr>
          <a:xfrm>
            <a:off x="576072" y="2157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21762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4" name="Shape 12"/>
          <p:cNvSpPr/>
          <p:nvPr/>
        </p:nvSpPr>
        <p:spPr>
          <a:xfrm>
            <a:off x="576072" y="311810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5" name="Text 13"/>
          <p:cNvSpPr/>
          <p:nvPr/>
        </p:nvSpPr>
        <p:spPr>
          <a:xfrm>
            <a:off x="576072" y="3118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31363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8" name="Shape 16"/>
          <p:cNvSpPr/>
          <p:nvPr/>
        </p:nvSpPr>
        <p:spPr>
          <a:xfrm>
            <a:off x="576072" y="407822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9" name="Text 17"/>
          <p:cNvSpPr/>
          <p:nvPr/>
        </p:nvSpPr>
        <p:spPr>
          <a:xfrm>
            <a:off x="576072" y="4078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40965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05156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2" name="Shape 20"/>
          <p:cNvSpPr/>
          <p:nvPr/>
        </p:nvSpPr>
        <p:spPr>
          <a:xfrm>
            <a:off x="4965192" y="119786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3" name="Text 21"/>
          <p:cNvSpPr/>
          <p:nvPr/>
        </p:nvSpPr>
        <p:spPr>
          <a:xfrm>
            <a:off x="4965192" y="1197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59552" y="1216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01168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6" name="Shape 24"/>
          <p:cNvSpPr/>
          <p:nvPr/>
        </p:nvSpPr>
        <p:spPr>
          <a:xfrm>
            <a:off x="4965192" y="215798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7" name="Text 25"/>
          <p:cNvSpPr/>
          <p:nvPr/>
        </p:nvSpPr>
        <p:spPr>
          <a:xfrm>
            <a:off x="4965192" y="2157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59552" y="21762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Difficult</a:t>
            </a:r>
            <a:r>
              <a:rPr lang="fr-FR" sz="1300" dirty="0">
                <a:solidFill>
                  <a:schemeClr val="bg2"/>
                </a:solidFill>
              </a:rPr>
              <a:t>é</a:t>
            </a:r>
            <a:r>
              <a:rPr lang="en-US" sz="1300" dirty="0">
                <a:solidFill>
                  <a:schemeClr val="bg2"/>
                </a:solidFill>
              </a:rPr>
              <a:t>s rencontr</a:t>
            </a:r>
            <a:r>
              <a:rPr lang="fr-FR" sz="1300" dirty="0">
                <a:solidFill>
                  <a:schemeClr val="bg2"/>
                </a:solidFill>
              </a:rPr>
              <a:t>ées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46320" y="297180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30" name="Shape 28"/>
          <p:cNvSpPr/>
          <p:nvPr/>
        </p:nvSpPr>
        <p:spPr>
          <a:xfrm>
            <a:off x="4965192" y="311810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1" name="Text 29"/>
          <p:cNvSpPr/>
          <p:nvPr/>
        </p:nvSpPr>
        <p:spPr>
          <a:xfrm>
            <a:off x="4965192" y="3118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59552" y="31363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Ressources utilis</a:t>
            </a:r>
            <a:r>
              <a:rPr lang="fr-FR" sz="1300" dirty="0">
                <a:solidFill>
                  <a:schemeClr val="bg2"/>
                </a:solidFill>
              </a:rPr>
              <a:t>é</a:t>
            </a:r>
            <a:r>
              <a:rPr lang="en-US" sz="1300" dirty="0">
                <a:solidFill>
                  <a:schemeClr val="bg2"/>
                </a:solidFill>
              </a:rPr>
              <a:t>es</a:t>
            </a:r>
          </a:p>
        </p:txBody>
      </p:sp>
      <p:sp>
        <p:nvSpPr>
          <p:cNvPr id="33" name="Shape 31"/>
          <p:cNvSpPr/>
          <p:nvPr/>
        </p:nvSpPr>
        <p:spPr>
          <a:xfrm>
            <a:off x="4846320" y="3931920"/>
            <a:ext cx="4114800" cy="777240"/>
          </a:xfrm>
          <a:prstGeom prst="roundRect">
            <a:avLst>
              <a:gd name="adj" fmla="val 14118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34" name="Shape 32"/>
          <p:cNvSpPr/>
          <p:nvPr/>
        </p:nvSpPr>
        <p:spPr>
          <a:xfrm>
            <a:off x="4965192" y="4078224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5" name="Text 33"/>
          <p:cNvSpPr/>
          <p:nvPr/>
        </p:nvSpPr>
        <p:spPr>
          <a:xfrm>
            <a:off x="4965192" y="4078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59552" y="40965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et Conclusion</a:t>
            </a:r>
            <a:endParaRPr lang="en-US" sz="130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7381C2CB-DFFB-335B-589C-DDF90B3B4A5F}"/>
              </a:ext>
            </a:extLst>
          </p:cNvPr>
          <p:cNvSpPr txBox="1"/>
          <p:nvPr/>
        </p:nvSpPr>
        <p:spPr>
          <a:xfrm>
            <a:off x="2402237" y="1788479"/>
            <a:ext cx="4804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45720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3840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64008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65760" cy="36576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15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 freelancing est en forte croissance en Afrique.</a:t>
            </a:r>
            <a:endParaRPr lang="en-US" sz="115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3840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974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1" name="Text 9"/>
          <p:cNvSpPr/>
          <p:nvPr/>
        </p:nvSpPr>
        <p:spPr>
          <a:xfrm>
            <a:off x="3337560" y="1115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3657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3" name="Text 11"/>
          <p:cNvSpPr/>
          <p:nvPr/>
        </p:nvSpPr>
        <p:spPr>
          <a:xfrm>
            <a:off x="3337560" y="1719072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plateforme web moderne, responsive et intuitive permettant aux fre</a:t>
            </a:r>
            <a:r>
              <a:rPr lang="fr-FR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Faciliter la mise en relation entre freelances et entreprises.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elances africains de présenter leurs services et aux clients de les trouver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97480" cy="3840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9748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6" name="Text 14"/>
          <p:cNvSpPr/>
          <p:nvPr/>
        </p:nvSpPr>
        <p:spPr>
          <a:xfrm>
            <a:off x="6172200" y="11155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1600200"/>
            <a:ext cx="36576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8" name="Text 16"/>
          <p:cNvSpPr/>
          <p:nvPr/>
        </p:nvSpPr>
        <p:spPr>
          <a:xfrm>
            <a:off x="6172200" y="1719072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/>
              <a:t>Développeurs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/>
              <a:t>Designers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/>
              <a:t> Marketeurs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/>
              <a:t> Entreprises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554480" cy="960120"/>
          </a:xfrm>
          <a:prstGeom prst="roundRect">
            <a:avLst>
              <a:gd name="adj" fmla="val 11429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#0D6EFD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principal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1435608"/>
            <a:ext cx="1554480" cy="928116"/>
          </a:xfrm>
          <a:prstGeom prst="roundRect">
            <a:avLst>
              <a:gd name="adj" fmla="val 11429"/>
            </a:avLst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75000"/>
              </a:schemeClr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9" name="Text 7"/>
          <p:cNvSpPr/>
          <p:nvPr/>
        </p:nvSpPr>
        <p:spPr>
          <a:xfrm>
            <a:off x="2286000" y="23682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#f8f9a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2670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second.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394460"/>
            <a:ext cx="1554480" cy="96012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2" name="Text 10"/>
          <p:cNvSpPr/>
          <p:nvPr/>
        </p:nvSpPr>
        <p:spPr>
          <a:xfrm>
            <a:off x="4168684" y="2337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#212529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60520" y="2446020"/>
            <a:ext cx="155448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Noir foncé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1371600"/>
            <a:ext cx="1554480" cy="960120"/>
          </a:xfrm>
          <a:prstGeom prst="roundRect">
            <a:avLst>
              <a:gd name="adj" fmla="val 11429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5" name="Text 13"/>
          <p:cNvSpPr/>
          <p:nvPr/>
        </p:nvSpPr>
        <p:spPr>
          <a:xfrm>
            <a:off x="6492240" y="2417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2660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clair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0" y="2651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999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39" y="4112514"/>
            <a:ext cx="5239839" cy="848106"/>
          </a:xfrm>
          <a:prstGeom prst="roundRect">
            <a:avLst>
              <a:gd name="adj" fmla="val 8571"/>
            </a:avLst>
          </a:prstGeom>
          <a:solidFill>
            <a:srgbClr val="0D1B2A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Aspect professionnel</a:t>
            </a:r>
          </a:p>
          <a:p>
            <a:r>
              <a:rPr lang="en-US" dirty="0">
                <a:solidFill>
                  <a:schemeClr val="bg1"/>
                </a:solidFill>
              </a:rPr>
              <a:t>Bonne lisibilite</a:t>
            </a:r>
          </a:p>
          <a:p>
            <a:r>
              <a:rPr lang="en-US" dirty="0">
                <a:solidFill>
                  <a:schemeClr val="bg1"/>
                </a:solidFill>
              </a:rPr>
              <a:t>Style moderne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6814" y="3493008"/>
            <a:ext cx="3660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Pourquoi ces couleurs?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3904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169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37760" y="3904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Polices et Inspirations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137161" y="1074094"/>
            <a:ext cx="7594418" cy="178863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170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/>
              <a:t>Polices utilis</a:t>
            </a:r>
            <a:r>
              <a:rPr lang="fr-FR" sz="1500" dirty="0"/>
              <a:t>é</a:t>
            </a:r>
            <a:r>
              <a:rPr lang="en-US" sz="1500" dirty="0"/>
              <a:t>es</a:t>
            </a:r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cartes freelances et filtrage par catégorie de 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Poppins (titres)</a:t>
            </a:r>
          </a:p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Inters(texte)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9204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170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0" y="157276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37161" y="3080876"/>
            <a:ext cx="7594418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3" name="Text 11"/>
          <p:cNvSpPr/>
          <p:nvPr/>
        </p:nvSpPr>
        <p:spPr>
          <a:xfrm>
            <a:off x="5029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31363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Inspirations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53872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Upwork</a:t>
            </a:r>
          </a:p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Fiverr</a:t>
            </a:r>
          </a:p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freelances modernes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carousel, accordéon.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31363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3538728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fichiers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206240" cy="3474720"/>
          </a:xfrm>
          <a:prstGeom prst="roundRect">
            <a:avLst>
              <a:gd name="adj" fmla="val 3684"/>
            </a:avLst>
          </a:prstGeom>
          <a:solidFill>
            <a:srgbClr val="060D1A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AfriTalent/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css/   →  style.css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js/    →  script.js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images/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docs/  →  *.pptx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index.html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freelances.html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contact.html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about.html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README.md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3776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du site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325880"/>
            <a:ext cx="3840480" cy="749808"/>
          </a:xfrm>
          <a:prstGeom prst="roundRect">
            <a:avLst>
              <a:gd name="adj" fmla="val 12195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9" name="Shape 7"/>
          <p:cNvSpPr/>
          <p:nvPr/>
        </p:nvSpPr>
        <p:spPr>
          <a:xfrm>
            <a:off x="4937760" y="1325880"/>
            <a:ext cx="64008" cy="749808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5084064" y="1399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84064" y="1709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Accueil, hero, stats, témoignages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212848"/>
            <a:ext cx="3840480" cy="749808"/>
          </a:xfrm>
          <a:prstGeom prst="roundRect">
            <a:avLst>
              <a:gd name="adj" fmla="val 12195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3" name="Shape 11"/>
          <p:cNvSpPr/>
          <p:nvPr/>
        </p:nvSpPr>
        <p:spPr>
          <a:xfrm>
            <a:off x="4937760" y="2212848"/>
            <a:ext cx="64008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4" name="Text 12"/>
          <p:cNvSpPr/>
          <p:nvPr/>
        </p:nvSpPr>
        <p:spPr>
          <a:xfrm>
            <a:off x="5084064" y="2286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84064" y="2596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&amp; cartes des freelances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099816"/>
            <a:ext cx="3840480" cy="749808"/>
          </a:xfrm>
          <a:prstGeom prst="roundRect">
            <a:avLst>
              <a:gd name="adj" fmla="val 12195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7" name="Shape 15"/>
          <p:cNvSpPr/>
          <p:nvPr/>
        </p:nvSpPr>
        <p:spPr>
          <a:xfrm>
            <a:off x="4937760" y="3099816"/>
            <a:ext cx="64008" cy="7498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8" name="Text 16"/>
          <p:cNvSpPr/>
          <p:nvPr/>
        </p:nvSpPr>
        <p:spPr>
          <a:xfrm>
            <a:off x="5084064" y="31729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84064" y="34838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contact validé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986784"/>
            <a:ext cx="3840480" cy="749808"/>
          </a:xfrm>
          <a:prstGeom prst="roundRect">
            <a:avLst>
              <a:gd name="adj" fmla="val 12195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1" name="Shape 19"/>
          <p:cNvSpPr/>
          <p:nvPr/>
        </p:nvSpPr>
        <p:spPr>
          <a:xfrm>
            <a:off x="4937760" y="3986784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2" name="Text 20"/>
          <p:cNvSpPr/>
          <p:nvPr/>
        </p:nvSpPr>
        <p:spPr>
          <a:xfrm>
            <a:off x="5084064" y="40599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84064" y="4370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l'équipe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du site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847088"/>
          </a:xfrm>
          <a:prstGeom prst="roundRect">
            <a:avLst>
              <a:gd name="adj" fmla="val 6436"/>
            </a:avLst>
          </a:prstGeom>
          <a:solidFill>
            <a:srgbClr val="0D1424"/>
          </a:solidFill>
          <a:ln w="19050">
            <a:solidFill>
              <a:srgbClr val="1A6EFF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5" name="Text 3"/>
          <p:cNvSpPr/>
          <p:nvPr/>
        </p:nvSpPr>
        <p:spPr>
          <a:xfrm>
            <a:off x="320040" y="161848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24414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Page d'accueil (Hero)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60520" cy="1847088"/>
          </a:xfrm>
          <a:prstGeom prst="roundRect">
            <a:avLst>
              <a:gd name="adj" fmla="val 6436"/>
            </a:avLst>
          </a:prstGeom>
          <a:solidFill>
            <a:srgbClr val="0D1424"/>
          </a:solidFill>
          <a:ln w="19050">
            <a:solidFill>
              <a:srgbClr val="00D4FF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8" name="Text 6"/>
          <p:cNvSpPr/>
          <p:nvPr/>
        </p:nvSpPr>
        <p:spPr>
          <a:xfrm>
            <a:off x="4754880" y="161848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Page Freelances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5844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4074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Page Contact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160520" cy="1847088"/>
          </a:xfrm>
          <a:prstGeom prst="roundRect">
            <a:avLst>
              <a:gd name="adj" fmla="val 6436"/>
            </a:avLst>
          </a:prstGeom>
          <a:solidFill>
            <a:srgbClr val="0D1424"/>
          </a:solidFill>
          <a:ln w="19050">
            <a:solidFill>
              <a:srgbClr val="FFD166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4" name="Text 12"/>
          <p:cNvSpPr/>
          <p:nvPr/>
        </p:nvSpPr>
        <p:spPr>
          <a:xfrm>
            <a:off x="4754880" y="35844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44074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Page À propos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82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Remplacez les zones par vos vraies captures dans PowerPoint</a:t>
            </a:r>
            <a:endParaRPr lang="en-US" sz="95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576DFFDB-CD2A-70B4-3DA7-86D9AFD8A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199" y="1085850"/>
            <a:ext cx="3959679" cy="1621405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E34C49CB-72A2-08F9-5FB3-0525EF5D9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960172"/>
            <a:ext cx="3966210" cy="1847036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A0260EDB-D5DF-69C0-367D-EC180CC60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457200" y="2932938"/>
            <a:ext cx="3931921" cy="1844248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9BE099BC-2CA4-6C19-3ABE-0815B84FB2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26079"/>
            <a:ext cx="4135111" cy="18378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— JavaScript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45720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oundRect">
            <a:avLst>
              <a:gd name="adj" fmla="val 1157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868680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530352" y="10789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Dark Mode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" y="1435608"/>
            <a:ext cx="4663440" cy="292608"/>
          </a:xfrm>
          <a:prstGeom prst="roundRect">
            <a:avLst>
              <a:gd name="adj" fmla="val 21875"/>
            </a:avLst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8" name="Text 6"/>
          <p:cNvSpPr/>
          <p:nvPr/>
        </p:nvSpPr>
        <p:spPr>
          <a:xfrm>
            <a:off x="594360" y="14356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document.body.classList.toggle("dark-mode")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49240" y="1097280"/>
            <a:ext cx="3291840" cy="6858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thème clair/sombre, état sauvegardé en localStorage.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868680"/>
          </a:xfrm>
          <a:prstGeom prst="roundRect">
            <a:avLst>
              <a:gd name="adj" fmla="val 1157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64008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2" name="Text 10"/>
          <p:cNvSpPr/>
          <p:nvPr/>
        </p:nvSpPr>
        <p:spPr>
          <a:xfrm>
            <a:off x="530352" y="20665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Fade 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0352" y="2423160"/>
            <a:ext cx="4663440" cy="292608"/>
          </a:xfrm>
          <a:prstGeom prst="roundRect">
            <a:avLst>
              <a:gd name="adj" fmla="val 21875"/>
            </a:avLst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4" name="Text 12"/>
          <p:cNvSpPr/>
          <p:nvPr/>
        </p:nvSpPr>
        <p:spPr>
          <a:xfrm>
            <a:off x="594360" y="242316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IntersectionObserver((entries) =&gt; {...})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57800" y="2084832"/>
            <a:ext cx="3383280" cy="6858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les éléments visibles à l'écran et ajoute la classe .show.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80944"/>
            <a:ext cx="8412480" cy="868680"/>
          </a:xfrm>
          <a:prstGeom prst="roundRect">
            <a:avLst>
              <a:gd name="adj" fmla="val 1157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64008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8" name="Text 16"/>
          <p:cNvSpPr/>
          <p:nvPr/>
        </p:nvSpPr>
        <p:spPr>
          <a:xfrm>
            <a:off x="530352" y="305409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Compteurs animés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0352" y="3410712"/>
            <a:ext cx="4663440" cy="292608"/>
          </a:xfrm>
          <a:prstGeom prst="roundRect">
            <a:avLst>
              <a:gd name="adj" fmla="val 21875"/>
            </a:avLst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0" name="Text 18"/>
          <p:cNvSpPr/>
          <p:nvPr/>
        </p:nvSpPr>
        <p:spPr>
          <a:xfrm>
            <a:off x="594360" y="34107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requestAnimationFrame(updateCounter)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49240" y="307238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les chiffres de 0 jusqu'au chiffre cible au scroll.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68496"/>
            <a:ext cx="8412480" cy="868680"/>
          </a:xfrm>
          <a:prstGeom prst="roundRect">
            <a:avLst>
              <a:gd name="adj" fmla="val 11579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3" name="Shape 21"/>
          <p:cNvSpPr/>
          <p:nvPr/>
        </p:nvSpPr>
        <p:spPr>
          <a:xfrm>
            <a:off x="365760" y="3968496"/>
            <a:ext cx="64008" cy="8686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4" name="Text 22"/>
          <p:cNvSpPr/>
          <p:nvPr/>
        </p:nvSpPr>
        <p:spPr>
          <a:xfrm>
            <a:off x="530352" y="40416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Filtrage freelances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30352" y="4398264"/>
            <a:ext cx="4663440" cy="292608"/>
          </a:xfrm>
          <a:prstGeom prst="roundRect">
            <a:avLst>
              <a:gd name="adj" fmla="val 21875"/>
            </a:avLst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6" name="Text 24"/>
          <p:cNvSpPr/>
          <p:nvPr/>
        </p:nvSpPr>
        <p:spPr>
          <a:xfrm>
            <a:off x="594360" y="439826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card.style.display = "block" / "none"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49240" y="405993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ou cache les cartes selon la catégorie sélectionnée.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&amp; CSS avancé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Composants Bootstrap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03120" cy="530352"/>
          </a:xfrm>
          <a:prstGeom prst="roundRect">
            <a:avLst>
              <a:gd name="adj" fmla="val 15517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Navbar responsive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371600"/>
            <a:ext cx="2103120" cy="530352"/>
          </a:xfrm>
          <a:prstGeom prst="roundRect">
            <a:avLst>
              <a:gd name="adj" fmla="val 15517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8" name="Text 6"/>
          <p:cNvSpPr/>
          <p:nvPr/>
        </p:nvSpPr>
        <p:spPr>
          <a:xfrm>
            <a:off x="2834640" y="13716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Cards &amp; Grid 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2103120" cy="530352"/>
          </a:xfrm>
          <a:prstGeom prst="roundRect">
            <a:avLst>
              <a:gd name="adj" fmla="val 15517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594360" y="20299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témoignages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2029968"/>
            <a:ext cx="2103120" cy="530352"/>
          </a:xfrm>
          <a:prstGeom prst="roundRect">
            <a:avLst>
              <a:gd name="adj" fmla="val 15517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2" name="Text 10"/>
          <p:cNvSpPr/>
          <p:nvPr/>
        </p:nvSpPr>
        <p:spPr>
          <a:xfrm>
            <a:off x="2834640" y="20299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Accordion FAQ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2103120" cy="530352"/>
          </a:xfrm>
          <a:prstGeom prst="roundRect">
            <a:avLst>
              <a:gd name="adj" fmla="val 15517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4" name="Text 12"/>
          <p:cNvSpPr/>
          <p:nvPr/>
        </p:nvSpPr>
        <p:spPr>
          <a:xfrm>
            <a:off x="594360" y="26883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Formulaire + validation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2688336"/>
            <a:ext cx="2103120" cy="530352"/>
          </a:xfrm>
          <a:prstGeom prst="roundRect">
            <a:avLst>
              <a:gd name="adj" fmla="val 15517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6" name="Text 14"/>
          <p:cNvSpPr/>
          <p:nvPr/>
        </p:nvSpPr>
        <p:spPr>
          <a:xfrm>
            <a:off x="2834640" y="26883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Badges &amp; Boutons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CSS avancé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1371600"/>
            <a:ext cx="3749040" cy="585216"/>
          </a:xfrm>
          <a:prstGeom prst="roundRect">
            <a:avLst>
              <a:gd name="adj" fmla="val 14063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9" name="Text 17"/>
          <p:cNvSpPr/>
          <p:nvPr/>
        </p:nvSpPr>
        <p:spPr>
          <a:xfrm>
            <a:off x="5166360" y="1408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--primary-color: #0d6efd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16824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:root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2066544"/>
            <a:ext cx="3749040" cy="585216"/>
          </a:xfrm>
          <a:prstGeom prst="roundRect">
            <a:avLst>
              <a:gd name="adj" fmla="val 14063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2" name="Text 20"/>
          <p:cNvSpPr/>
          <p:nvPr/>
        </p:nvSpPr>
        <p:spPr>
          <a:xfrm>
            <a:off x="516636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translateY(-10px)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66360" y="23774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hover cards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0" y="2761488"/>
            <a:ext cx="3749040" cy="585216"/>
          </a:xfrm>
          <a:prstGeom prst="roundRect">
            <a:avLst>
              <a:gd name="adj" fmla="val 14063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5" name="Text 23"/>
          <p:cNvSpPr/>
          <p:nvPr/>
        </p:nvSpPr>
        <p:spPr>
          <a:xfrm>
            <a:off x="5166360" y="2798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66360" y="30723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tablette/mobile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0" y="3456432"/>
            <a:ext cx="3749040" cy="585216"/>
          </a:xfrm>
          <a:prstGeom prst="roundRect">
            <a:avLst>
              <a:gd name="adj" fmla="val 14063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8" name="Text 26"/>
          <p:cNvSpPr/>
          <p:nvPr/>
        </p:nvSpPr>
        <p:spPr>
          <a:xfrm>
            <a:off x="5166360" y="3493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all 0.8s ease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3767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fluides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4151376"/>
            <a:ext cx="3749040" cy="585216"/>
          </a:xfrm>
          <a:prstGeom prst="roundRect">
            <a:avLst>
              <a:gd name="adj" fmla="val 14063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31" name="Text 29"/>
          <p:cNvSpPr/>
          <p:nvPr/>
        </p:nvSpPr>
        <p:spPr>
          <a:xfrm>
            <a:off x="5166360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opacity: 0 → 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44622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Fade In CSS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Historique des commits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754880" cy="3474720"/>
          </a:xfrm>
          <a:prstGeom prst="roundRect">
            <a:avLst>
              <a:gd name="adj" fmla="val 3684"/>
            </a:avLst>
          </a:prstGeom>
          <a:solidFill>
            <a:srgbClr val="0A0F1E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658368" y="150876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01  —  Initialisation du projet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02  —  Structure HTML de 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03  —  CSS global &amp; variables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04  —  Navbar &amp; Hero section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05  —  Section Freelances &amp; filtres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08  —  Dark mode &amp; animations 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10  —  GitHub Pages &amp; README final 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GitHub Pages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23560" y="1426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23560" y="1719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22951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2587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(root)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3163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 ligne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01096" y="4064508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0A0F1E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8" name="Text 16"/>
          <p:cNvSpPr/>
          <p:nvPr/>
        </p:nvSpPr>
        <p:spPr>
          <a:xfrm>
            <a:off x="5623560" y="4059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https://fama-sarr.github.io/SARR-Fama-AfriTalent</a:t>
            </a:r>
            <a:r>
              <a:rPr lang="en-US" sz="1100" dirty="0"/>
              <a:t>/</a:t>
            </a:r>
          </a:p>
        </p:txBody>
      </p:sp>
      <p:sp>
        <p:nvSpPr>
          <p:cNvPr id="19" name="Text 17"/>
          <p:cNvSpPr/>
          <p:nvPr/>
        </p:nvSpPr>
        <p:spPr>
          <a:xfrm>
            <a:off x="5623560" y="43342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457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88720"/>
          </a:xfrm>
          <a:prstGeom prst="roundRect">
            <a:avLst>
              <a:gd name="adj" fmla="val 10000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09728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 Fade In ne fonctionnait pas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48132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Les styles CSS .fade-in et .fade-in.show étaient manquants. L'IntersectionObserver tournait mais opacity restait à 0.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1188720"/>
          </a:xfrm>
          <a:prstGeom prst="roundRect">
            <a:avLst>
              <a:gd name="adj" fmla="val 10000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1" name="Text 9"/>
          <p:cNvSpPr/>
          <p:nvPr/>
        </p:nvSpPr>
        <p:spPr>
          <a:xfrm>
            <a:off x="45720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42316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Images absentes sur GitHub Pages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80720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Les chemins d'images utilisaient des slashes incorrects. Correction des chemins relatifs (../images/) pour le déploiement.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188720"/>
          </a:xfrm>
          <a:prstGeom prst="roundRect">
            <a:avLst>
              <a:gd name="adj" fmla="val 10000"/>
            </a:avLst>
          </a:prstGeom>
          <a:solidFill>
            <a:srgbClr val="1A2535"/>
          </a:solidFill>
          <a:ln w="12700">
            <a:solidFill>
              <a:srgbClr val="1E2D4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6" name="Text 14"/>
          <p:cNvSpPr/>
          <p:nvPr/>
        </p:nvSpPr>
        <p:spPr>
          <a:xfrm>
            <a:off x="4572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374904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Formulaire soumis sans 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413308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L'oubli de e.preventDefault() faisait soumettre le formulaire avant la vérification JavaScript des champs.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268115" y="1047315"/>
            <a:ext cx="6245352" cy="2075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MDN Web Docs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 Bootstrap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W3Schools</a:t>
            </a:r>
            <a:endParaRPr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64008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530352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(JS, CSS)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Docs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9472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" y="3232077"/>
            <a:ext cx="6245352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GitHub Docs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      Google Fonts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Bootstrap </a:t>
            </a:r>
            <a:r>
              <a:rPr lang="fr-FR" dirty="0" err="1"/>
              <a:t>Icons</a:t>
            </a:r>
            <a:endParaRPr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5" name="Text 13"/>
          <p:cNvSpPr/>
          <p:nvPr/>
        </p:nvSpPr>
        <p:spPr>
          <a:xfrm>
            <a:off x="292608" y="3300657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352044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274320"/>
            <a:ext cx="4023360" cy="4023360"/>
          </a:xfrm>
          <a:prstGeom prst="ellipse">
            <a:avLst/>
          </a:prstGeom>
          <a:solidFill>
            <a:srgbClr val="1A6EFF">
              <a:alpha val="10000"/>
            </a:srgbClr>
          </a:solidFill>
          <a:ln w="12700">
            <a:solidFill>
              <a:srgbClr val="1A6EFF">
                <a:alpha val="10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0" y="2743200"/>
            <a:ext cx="2743200" cy="274320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>
                <a:alpha val="10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2743200" cy="2743200"/>
          </a:xfrm>
          <a:prstGeom prst="ellipse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FFD166">
                <a:alpha val="10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" name="Text 3"/>
          <p:cNvSpPr/>
          <p:nvPr/>
        </p:nvSpPr>
        <p:spPr>
          <a:xfrm>
            <a:off x="3474720" y="457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926080" y="2788920"/>
            <a:ext cx="329184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8" name="Text 6"/>
          <p:cNvSpPr/>
          <p:nvPr/>
        </p:nvSpPr>
        <p:spPr>
          <a:xfrm>
            <a:off x="1828800" y="29718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Navigation entre les pages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Dark mode &amp; animations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Filtrage des freelances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Validation du formulaire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Perspectives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45720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Ce que j'ai appris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474720"/>
          </a:xfrm>
          <a:prstGeom prst="roundRect">
            <a:avLst>
              <a:gd name="adj" fmla="val 3684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sémantique structuré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avancé avec variables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interactif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responsive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déploiement GitHub Pages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Perspectives d'amélioration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114800" cy="3474720"/>
          </a:xfrm>
          <a:prstGeom prst="roundRect">
            <a:avLst>
              <a:gd name="adj" fmla="val 3684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E2E8F0"/>
            </a:solidFill>
            <a:prstDash val="solid"/>
          </a:ln>
          <a:effectLst>
            <a:outerShdw blurRad="127000" dist="508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client ↔ freelance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membre (inscription/connexion)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et avis sur les freelances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mobile native (PWA)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sécurisé intégré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572000" cy="4572000"/>
          </a:xfrm>
          <a:prstGeom prst="ellipse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>
                <a:alpha val="15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6583680" y="2286000"/>
            <a:ext cx="4114800" cy="4114800"/>
          </a:xfrm>
          <a:prstGeom prst="ellipse">
            <a:avLst/>
          </a:prstGeom>
          <a:solidFill>
            <a:srgbClr val="1A6EFF">
              <a:alpha val="15000"/>
            </a:srgbClr>
          </a:solidFill>
          <a:ln w="12700">
            <a:solidFill>
              <a:srgbClr val="1A6EFF">
                <a:alpha val="15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3657600" y="-914400"/>
            <a:ext cx="2743200" cy="2743200"/>
          </a:xfrm>
          <a:prstGeom prst="ellipse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FFD166">
                <a:alpha val="1000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926080" y="1965960"/>
            <a:ext cx="32918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59229" y="2286000"/>
            <a:ext cx="832757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 Sarr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Web – ISI  •  2025 – 2026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877</Words>
  <Application>Microsoft Office PowerPoint</Application>
  <PresentationFormat>Affichage à l'écran (16:9)</PresentationFormat>
  <Paragraphs>205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Fama Sarr</dc:title>
  <dc:subject>PptxGenJS Presentation</dc:subject>
  <dc:creator>Fama Sarr</dc:creator>
  <cp:lastModifiedBy>Fama Sarr</cp:lastModifiedBy>
  <cp:revision>2</cp:revision>
  <dcterms:created xsi:type="dcterms:W3CDTF">2026-06-22T19:44:23Z</dcterms:created>
  <dcterms:modified xsi:type="dcterms:W3CDTF">2026-06-22T23:39:27Z</dcterms:modified>
</cp:coreProperties>
</file>